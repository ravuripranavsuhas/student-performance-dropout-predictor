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67" r:id="rId1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172200"/>
            <a:ext cx="12191695" cy="685800"/>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234440"/>
            <a:ext cx="10698480" cy="1645920"/>
          </a:xfrm>
          <a:prstGeom prst="rect">
            <a:avLst/>
          </a:prstGeom>
          <a:noFill/>
        </p:spPr>
        <p:txBody>
          <a:bodyPr wrap="none">
            <a:spAutoFit/>
          </a:bodyPr>
          <a:lstStyle/>
          <a:p>
            <a:pPr>
              <a:defRPr sz="4000" b="1">
                <a:solidFill>
                  <a:srgbClr val="FFFFFF"/>
                </a:solidFill>
              </a:defRPr>
            </a:pPr>
            <a:r>
              <a:t>Student Performance &amp;</a:t>
            </a:r>
            <a:br/>
            <a:r>
              <a:t>Dropout Predictor</a:t>
            </a:r>
          </a:p>
        </p:txBody>
      </p:sp>
      <p:sp>
        <p:nvSpPr>
          <p:cNvPr id="5" name="TextBox 4"/>
          <p:cNvSpPr txBox="1"/>
          <p:nvPr/>
        </p:nvSpPr>
        <p:spPr>
          <a:xfrm>
            <a:off x="822960" y="3154680"/>
            <a:ext cx="9875520" cy="822960"/>
          </a:xfrm>
          <a:prstGeom prst="rect">
            <a:avLst/>
          </a:prstGeom>
          <a:noFill/>
        </p:spPr>
        <p:txBody>
          <a:bodyPr wrap="none">
            <a:spAutoFit/>
          </a:bodyPr>
          <a:lstStyle/>
          <a:p>
            <a:pPr>
              <a:defRPr sz="2000">
                <a:solidFill>
                  <a:srgbClr val="DCE6F5"/>
                </a:solidFill>
              </a:defRPr>
            </a:pPr>
            <a:r>
              <a:t>Predicting students at risk using academic, attendance and background factors</a:t>
            </a:r>
          </a:p>
        </p:txBody>
      </p:sp>
      <p:sp>
        <p:nvSpPr>
          <p:cNvPr id="6" name="TextBox 5"/>
          <p:cNvSpPr txBox="1"/>
          <p:nvPr/>
        </p:nvSpPr>
        <p:spPr>
          <a:xfrm>
            <a:off x="822960" y="4709160"/>
            <a:ext cx="5943600" cy="548640"/>
          </a:xfrm>
          <a:prstGeom prst="rect">
            <a:avLst/>
          </a:prstGeom>
          <a:noFill/>
        </p:spPr>
        <p:txBody>
          <a:bodyPr wrap="none">
            <a:spAutoFit/>
          </a:bodyPr>
          <a:lstStyle/>
          <a:p>
            <a:pPr>
              <a:defRPr sz="1700" b="1">
                <a:solidFill>
                  <a:srgbClr val="FFFFFF"/>
                </a:solidFill>
              </a:defRPr>
            </a:pPr>
            <a:r>
              <a:t>Techniques: Logistic Regression • Decision Tree • Random Forest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6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1155680" cy="411480"/>
          </a:xfrm>
          <a:prstGeom prst="rect">
            <a:avLst/>
          </a:prstGeom>
          <a:noFill/>
        </p:spPr>
        <p:txBody>
          <a:bodyPr wrap="none">
            <a:spAutoFit/>
          </a:bodyPr>
          <a:lstStyle/>
          <a:p>
            <a:pPr>
              <a:defRPr sz="2700" b="1">
                <a:solidFill>
                  <a:srgbClr val="FFFFFF"/>
                </a:solidFill>
              </a:defRPr>
            </a:pPr>
            <a:r>
              <a:t>1. Introduction</a:t>
            </a:r>
          </a:p>
        </p:txBody>
      </p:sp>
      <p:sp>
        <p:nvSpPr>
          <p:cNvPr id="5" name="TextBox 4"/>
          <p:cNvSpPr txBox="1"/>
          <p:nvPr/>
        </p:nvSpPr>
        <p:spPr>
          <a:xfrm>
            <a:off x="731520" y="1325880"/>
            <a:ext cx="10789920" cy="4937760"/>
          </a:xfrm>
          <a:prstGeom prst="rect">
            <a:avLst/>
          </a:prstGeom>
          <a:noFill/>
        </p:spPr>
        <p:txBody>
          <a:bodyPr wrap="square">
            <a:spAutoFit/>
          </a:bodyPr>
          <a:lstStyle/>
          <a:p>
            <a:pPr>
              <a:spcAft>
                <a:spcPts val="1200"/>
              </a:spcAft>
              <a:defRPr sz="2100" b="0">
                <a:solidFill>
                  <a:srgbClr val="232D3C"/>
                </a:solidFill>
              </a:defRPr>
            </a:pPr>
            <a:r>
              <a:t>Student performance can be affected by attendance, study habits, internal marks and family background.</a:t>
            </a:r>
          </a:p>
          <a:p>
            <a:pPr>
              <a:spcAft>
                <a:spcPts val="1200"/>
              </a:spcAft>
              <a:defRPr sz="2100" b="0">
                <a:solidFill>
                  <a:srgbClr val="232D3C"/>
                </a:solidFill>
              </a:defRPr>
            </a:pPr>
            <a:r>
              <a:t>Early identification of at-risk students allows teachers to provide timely academic support.</a:t>
            </a:r>
          </a:p>
          <a:p>
            <a:pPr>
              <a:spcAft>
                <a:spcPts val="1200"/>
              </a:spcAft>
              <a:defRPr sz="2100" b="0">
                <a:solidFill>
                  <a:srgbClr val="232D3C"/>
                </a:solidFill>
              </a:defRPr>
            </a:pPr>
            <a:r>
              <a:t>This project uses machine learning classification to estimate whether a student is at risk.</a:t>
            </a:r>
          </a:p>
          <a:p>
            <a:pPr>
              <a:spcAft>
                <a:spcPts val="1200"/>
              </a:spcAft>
              <a:defRPr sz="2100" b="0">
                <a:solidFill>
                  <a:srgbClr val="232D3C"/>
                </a:solidFill>
              </a:defRPr>
            </a:pPr>
            <a:r>
              <a:t>The system also explains which input factors contribute most to the prediction.</a:t>
            </a:r>
          </a:p>
        </p:txBody>
      </p:sp>
      <p:sp>
        <p:nvSpPr>
          <p:cNvPr id="6" name="TextBox 5"/>
          <p:cNvSpPr txBox="1"/>
          <p:nvPr/>
        </p:nvSpPr>
        <p:spPr>
          <a:xfrm>
            <a:off x="10881360" y="6473952"/>
            <a:ext cx="640080" cy="228600"/>
          </a:xfrm>
          <a:prstGeom prst="rect">
            <a:avLst/>
          </a:prstGeom>
          <a:noFill/>
        </p:spPr>
        <p:txBody>
          <a:bodyPr wrap="none">
            <a:spAutoFit/>
          </a:bodyPr>
          <a:lstStyle/>
          <a:p>
            <a:pPr algn="r">
              <a:defRPr sz="1000">
                <a:solidFill>
                  <a:srgbClr val="69737D"/>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6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1155680" cy="411480"/>
          </a:xfrm>
          <a:prstGeom prst="rect">
            <a:avLst/>
          </a:prstGeom>
          <a:noFill/>
        </p:spPr>
        <p:txBody>
          <a:bodyPr wrap="none">
            <a:spAutoFit/>
          </a:bodyPr>
          <a:lstStyle/>
          <a:p>
            <a:pPr>
              <a:defRPr sz="2700" b="1">
                <a:solidFill>
                  <a:srgbClr val="FFFFFF"/>
                </a:solidFill>
              </a:defRPr>
            </a:pPr>
            <a:r>
              <a:t>2. Problem Statement</a:t>
            </a:r>
          </a:p>
        </p:txBody>
      </p:sp>
      <p:sp>
        <p:nvSpPr>
          <p:cNvPr id="5" name="Rounded Rectangle 4"/>
          <p:cNvSpPr/>
          <p:nvPr/>
        </p:nvSpPr>
        <p:spPr>
          <a:xfrm>
            <a:off x="685800" y="1234440"/>
            <a:ext cx="3429000" cy="4389120"/>
          </a:xfrm>
          <a:prstGeom prst="roundRect">
            <a:avLst/>
          </a:prstGeom>
          <a:solidFill>
            <a:srgbClr val="F1F6FC"/>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234440"/>
            <a:ext cx="73152" cy="4389120"/>
          </a:xfrm>
          <a:prstGeom prst="rect">
            <a:avLst/>
          </a:prstGeom>
          <a:solidFill>
            <a:srgbClr val="CD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399032"/>
            <a:ext cx="3063240" cy="411480"/>
          </a:xfrm>
          <a:prstGeom prst="rect">
            <a:avLst/>
          </a:prstGeom>
          <a:noFill/>
        </p:spPr>
        <p:txBody>
          <a:bodyPr wrap="none">
            <a:spAutoFit/>
          </a:bodyPr>
          <a:lstStyle/>
          <a:p>
            <a:pPr>
              <a:defRPr sz="1800" b="1">
                <a:solidFill>
                  <a:srgbClr val="16233A"/>
                </a:solidFill>
              </a:defRPr>
            </a:pPr>
            <a:r>
              <a:t>Problem</a:t>
            </a:r>
          </a:p>
        </p:txBody>
      </p:sp>
      <p:sp>
        <p:nvSpPr>
          <p:cNvPr id="8" name="TextBox 7"/>
          <p:cNvSpPr txBox="1"/>
          <p:nvPr/>
        </p:nvSpPr>
        <p:spPr>
          <a:xfrm>
            <a:off x="886968" y="1892808"/>
            <a:ext cx="3063240" cy="3566160"/>
          </a:xfrm>
          <a:prstGeom prst="rect">
            <a:avLst/>
          </a:prstGeom>
          <a:noFill/>
        </p:spPr>
        <p:txBody>
          <a:bodyPr wrap="none">
            <a:spAutoFit/>
          </a:bodyPr>
          <a:lstStyle/>
          <a:p>
            <a:pPr>
              <a:defRPr sz="1400">
                <a:solidFill>
                  <a:srgbClr val="232D3C"/>
                </a:solidFill>
              </a:defRPr>
            </a:pPr>
            <a:r>
              <a:t>Institutions may identify struggling students only after their marks have already dropped.</a:t>
            </a:r>
          </a:p>
        </p:txBody>
      </p:sp>
      <p:sp>
        <p:nvSpPr>
          <p:cNvPr id="9" name="Rounded Rectangle 8"/>
          <p:cNvSpPr/>
          <p:nvPr/>
        </p:nvSpPr>
        <p:spPr>
          <a:xfrm>
            <a:off x="4389120" y="1234440"/>
            <a:ext cx="3429000" cy="4389120"/>
          </a:xfrm>
          <a:prstGeom prst="roundRect">
            <a:avLst/>
          </a:prstGeom>
          <a:solidFill>
            <a:srgbClr val="F1F6FC"/>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9120" y="1234440"/>
            <a:ext cx="73152" cy="4389120"/>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1399032"/>
            <a:ext cx="3063240" cy="411480"/>
          </a:xfrm>
          <a:prstGeom prst="rect">
            <a:avLst/>
          </a:prstGeom>
          <a:noFill/>
        </p:spPr>
        <p:txBody>
          <a:bodyPr wrap="none">
            <a:spAutoFit/>
          </a:bodyPr>
          <a:lstStyle/>
          <a:p>
            <a:pPr>
              <a:defRPr sz="1800" b="1">
                <a:solidFill>
                  <a:srgbClr val="16233A"/>
                </a:solidFill>
              </a:defRPr>
            </a:pPr>
            <a:r>
              <a:t>Goal</a:t>
            </a:r>
          </a:p>
        </p:txBody>
      </p:sp>
      <p:sp>
        <p:nvSpPr>
          <p:cNvPr id="12" name="TextBox 11"/>
          <p:cNvSpPr txBox="1"/>
          <p:nvPr/>
        </p:nvSpPr>
        <p:spPr>
          <a:xfrm>
            <a:off x="4590288" y="1892808"/>
            <a:ext cx="3063240" cy="3566160"/>
          </a:xfrm>
          <a:prstGeom prst="rect">
            <a:avLst/>
          </a:prstGeom>
          <a:noFill/>
        </p:spPr>
        <p:txBody>
          <a:bodyPr wrap="none">
            <a:spAutoFit/>
          </a:bodyPr>
          <a:lstStyle/>
          <a:p>
            <a:pPr>
              <a:defRPr sz="1400">
                <a:solidFill>
                  <a:srgbClr val="232D3C"/>
                </a:solidFill>
              </a:defRPr>
            </a:pPr>
            <a:r>
              <a:t>Build a beginner-friendly ML system that predicts student risk from available academic and background data.</a:t>
            </a:r>
          </a:p>
        </p:txBody>
      </p:sp>
      <p:sp>
        <p:nvSpPr>
          <p:cNvPr id="13" name="Rounded Rectangle 12"/>
          <p:cNvSpPr/>
          <p:nvPr/>
        </p:nvSpPr>
        <p:spPr>
          <a:xfrm>
            <a:off x="8092440" y="1234440"/>
            <a:ext cx="3429000" cy="4389120"/>
          </a:xfrm>
          <a:prstGeom prst="roundRect">
            <a:avLst/>
          </a:prstGeom>
          <a:solidFill>
            <a:srgbClr val="F1F6FC"/>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234440"/>
            <a:ext cx="73152" cy="4389120"/>
          </a:xfrm>
          <a:prstGeom prst="rect">
            <a:avLst/>
          </a:prstGeom>
          <a:solidFill>
            <a:srgbClr val="2D8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93608" y="1399032"/>
            <a:ext cx="3063240" cy="411480"/>
          </a:xfrm>
          <a:prstGeom prst="rect">
            <a:avLst/>
          </a:prstGeom>
          <a:noFill/>
        </p:spPr>
        <p:txBody>
          <a:bodyPr wrap="none">
            <a:spAutoFit/>
          </a:bodyPr>
          <a:lstStyle/>
          <a:p>
            <a:pPr>
              <a:defRPr sz="1800" b="1">
                <a:solidFill>
                  <a:srgbClr val="16233A"/>
                </a:solidFill>
              </a:defRPr>
            </a:pPr>
            <a:r>
              <a:t>Explanation</a:t>
            </a:r>
          </a:p>
        </p:txBody>
      </p:sp>
      <p:sp>
        <p:nvSpPr>
          <p:cNvPr id="16" name="TextBox 15"/>
          <p:cNvSpPr txBox="1"/>
          <p:nvPr/>
        </p:nvSpPr>
        <p:spPr>
          <a:xfrm>
            <a:off x="8293608" y="1892808"/>
            <a:ext cx="3063240" cy="3566160"/>
          </a:xfrm>
          <a:prstGeom prst="rect">
            <a:avLst/>
          </a:prstGeom>
          <a:noFill/>
        </p:spPr>
        <p:txBody>
          <a:bodyPr wrap="none">
            <a:spAutoFit/>
          </a:bodyPr>
          <a:lstStyle/>
          <a:p>
            <a:pPr>
              <a:defRPr sz="1400">
                <a:solidFill>
                  <a:srgbClr val="232D3C"/>
                </a:solidFill>
              </a:defRPr>
            </a:pPr>
            <a:r>
              <a:t>Show the important factors behind the prediction so the result is understandable and actionable.</a:t>
            </a:r>
          </a:p>
        </p:txBody>
      </p:sp>
      <p:sp>
        <p:nvSpPr>
          <p:cNvPr id="17" name="TextBox 16"/>
          <p:cNvSpPr txBox="1"/>
          <p:nvPr/>
        </p:nvSpPr>
        <p:spPr>
          <a:xfrm>
            <a:off x="10881360" y="6473952"/>
            <a:ext cx="640080" cy="228600"/>
          </a:xfrm>
          <a:prstGeom prst="rect">
            <a:avLst/>
          </a:prstGeom>
          <a:noFill/>
        </p:spPr>
        <p:txBody>
          <a:bodyPr wrap="none">
            <a:spAutoFit/>
          </a:bodyPr>
          <a:lstStyle/>
          <a:p>
            <a:pPr algn="r">
              <a:defRPr sz="1000">
                <a:solidFill>
                  <a:srgbClr val="69737D"/>
                </a:solidFill>
              </a:defRPr>
            </a:pPr>
            <a:r>
              <a:t>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6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1155680" cy="411480"/>
          </a:xfrm>
          <a:prstGeom prst="rect">
            <a:avLst/>
          </a:prstGeom>
          <a:noFill/>
        </p:spPr>
        <p:txBody>
          <a:bodyPr wrap="none">
            <a:spAutoFit/>
          </a:bodyPr>
          <a:lstStyle/>
          <a:p>
            <a:pPr>
              <a:defRPr sz="2700" b="1">
                <a:solidFill>
                  <a:srgbClr val="FFFFFF"/>
                </a:solidFill>
              </a:defRPr>
            </a:pPr>
            <a:r>
              <a:t>3. Dataset — UCI Student Performance</a:t>
            </a:r>
          </a:p>
        </p:txBody>
      </p:sp>
      <p:sp>
        <p:nvSpPr>
          <p:cNvPr id="5" name="TextBox 4"/>
          <p:cNvSpPr txBox="1"/>
          <p:nvPr/>
        </p:nvSpPr>
        <p:spPr>
          <a:xfrm>
            <a:off x="731520" y="1325880"/>
            <a:ext cx="10789920" cy="4937760"/>
          </a:xfrm>
          <a:prstGeom prst="rect">
            <a:avLst/>
          </a:prstGeom>
          <a:noFill/>
        </p:spPr>
        <p:txBody>
          <a:bodyPr wrap="square">
            <a:spAutoFit/>
          </a:bodyPr>
          <a:lstStyle/>
          <a:p>
            <a:pPr>
              <a:spcAft>
                <a:spcPts val="1200"/>
              </a:spcAft>
              <a:defRPr sz="1800" b="0">
                <a:solidFill>
                  <a:srgbClr val="232D3C"/>
                </a:solidFill>
              </a:defRPr>
            </a:pPr>
            <a:r>
              <a:t>Source: UCI Student Performance dataset.</a:t>
            </a:r>
          </a:p>
          <a:p>
            <a:pPr>
              <a:spcAft>
                <a:spcPts val="1200"/>
              </a:spcAft>
              <a:defRPr sz="1800" b="0">
                <a:solidFill>
                  <a:srgbClr val="232D3C"/>
                </a:solidFill>
              </a:defRPr>
            </a:pPr>
            <a:r>
              <a:t>Typical attributes include school, age, family information, study time, absences and previous/final grades.</a:t>
            </a:r>
          </a:p>
          <a:p>
            <a:pPr>
              <a:spcAft>
                <a:spcPts val="1200"/>
              </a:spcAft>
              <a:defRPr sz="1800" b="0">
                <a:solidFill>
                  <a:srgbClr val="232D3C"/>
                </a:solidFill>
              </a:defRPr>
            </a:pPr>
            <a:r>
              <a:t>Inputs selected for this project: attendance/absence information, internal or previous marks, study hours/study time and family-background variables.</a:t>
            </a:r>
          </a:p>
          <a:p>
            <a:pPr>
              <a:spcAft>
                <a:spcPts val="1200"/>
              </a:spcAft>
              <a:defRPr sz="1800" b="0">
                <a:solidFill>
                  <a:srgbClr val="232D3C"/>
                </a:solidFill>
              </a:defRPr>
            </a:pPr>
            <a:r>
              <a:t>Target can be defined as an academic-risk label, for example: At Risk vs Not At Risk.</a:t>
            </a:r>
          </a:p>
          <a:p>
            <a:pPr>
              <a:spcAft>
                <a:spcPts val="1200"/>
              </a:spcAft>
              <a:defRPr sz="1800" b="0">
                <a:solidFill>
                  <a:srgbClr val="232D3C"/>
                </a:solidFill>
              </a:defRPr>
            </a:pPr>
            <a:r>
              <a:t>Important note: the original Student Performance dataset does not directly contain a dropout label; dropout risk should therefore be treated as a modeled/proxy outcome unless a separate dropout dataset is added.</a:t>
            </a:r>
          </a:p>
        </p:txBody>
      </p:sp>
      <p:sp>
        <p:nvSpPr>
          <p:cNvPr id="6" name="TextBox 5"/>
          <p:cNvSpPr txBox="1"/>
          <p:nvPr/>
        </p:nvSpPr>
        <p:spPr>
          <a:xfrm>
            <a:off x="10881360" y="6473952"/>
            <a:ext cx="640080" cy="228600"/>
          </a:xfrm>
          <a:prstGeom prst="rect">
            <a:avLst/>
          </a:prstGeom>
          <a:noFill/>
        </p:spPr>
        <p:txBody>
          <a:bodyPr wrap="none">
            <a:spAutoFit/>
          </a:bodyPr>
          <a:lstStyle/>
          <a:p>
            <a:pPr algn="r">
              <a:defRPr sz="1000">
                <a:solidFill>
                  <a:srgbClr val="69737D"/>
                </a:solidFill>
              </a:defRPr>
            </a:pPr>
            <a:r>
              <a:t>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6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1155680" cy="411480"/>
          </a:xfrm>
          <a:prstGeom prst="rect">
            <a:avLst/>
          </a:prstGeom>
          <a:noFill/>
        </p:spPr>
        <p:txBody>
          <a:bodyPr wrap="none">
            <a:spAutoFit/>
          </a:bodyPr>
          <a:lstStyle/>
          <a:p>
            <a:pPr>
              <a:defRPr sz="2700" b="1">
                <a:solidFill>
                  <a:srgbClr val="FFFFFF"/>
                </a:solidFill>
              </a:defRPr>
            </a:pPr>
            <a:r>
              <a:t>4. Proposed Methodology / Workflow</a:t>
            </a:r>
          </a:p>
        </p:txBody>
      </p:sp>
      <p:sp>
        <p:nvSpPr>
          <p:cNvPr id="5" name="Oval 4"/>
          <p:cNvSpPr/>
          <p:nvPr/>
        </p:nvSpPr>
        <p:spPr>
          <a:xfrm>
            <a:off x="594360" y="1828800"/>
            <a:ext cx="658368" cy="658368"/>
          </a:xfrm>
          <a:prstGeom prst="ellipse">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938528"/>
            <a:ext cx="658368" cy="320040"/>
          </a:xfrm>
          <a:prstGeom prst="rect">
            <a:avLst/>
          </a:prstGeom>
          <a:noFill/>
        </p:spPr>
        <p:txBody>
          <a:bodyPr wrap="none">
            <a:spAutoFit/>
          </a:bodyPr>
          <a:lstStyle/>
          <a:p>
            <a:pPr algn="ctr">
              <a:defRPr sz="1600" b="1">
                <a:solidFill>
                  <a:srgbClr val="FFFFFF"/>
                </a:solidFill>
              </a:defRPr>
            </a:pPr>
            <a:r>
              <a:t>1</a:t>
            </a:r>
          </a:p>
        </p:txBody>
      </p:sp>
      <p:sp>
        <p:nvSpPr>
          <p:cNvPr id="7" name="TextBox 6"/>
          <p:cNvSpPr txBox="1"/>
          <p:nvPr/>
        </p:nvSpPr>
        <p:spPr>
          <a:xfrm>
            <a:off x="274320" y="2651760"/>
            <a:ext cx="1325880" cy="1005840"/>
          </a:xfrm>
          <a:prstGeom prst="rect">
            <a:avLst/>
          </a:prstGeom>
          <a:noFill/>
        </p:spPr>
        <p:txBody>
          <a:bodyPr wrap="none">
            <a:spAutoFit/>
          </a:bodyPr>
          <a:lstStyle/>
          <a:p>
            <a:pPr algn="ctr">
              <a:defRPr sz="1400" b="1">
                <a:solidFill>
                  <a:srgbClr val="16233A"/>
                </a:solidFill>
              </a:defRPr>
            </a:pPr>
            <a:r>
              <a:t>Collect Dataset</a:t>
            </a:r>
          </a:p>
        </p:txBody>
      </p:sp>
      <p:sp>
        <p:nvSpPr>
          <p:cNvPr id="8" name="Chevron 7"/>
          <p:cNvSpPr/>
          <p:nvPr/>
        </p:nvSpPr>
        <p:spPr>
          <a:xfrm>
            <a:off x="1371600" y="1975104"/>
            <a:ext cx="685800" cy="347472"/>
          </a:xfrm>
          <a:prstGeom prst="chevron">
            <a:avLst/>
          </a:prstGeom>
          <a:solidFill>
            <a:srgbClr val="BECD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514600" y="1828800"/>
            <a:ext cx="658368" cy="658368"/>
          </a:xfrm>
          <a:prstGeom prst="ellipse">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4600" y="1938528"/>
            <a:ext cx="658368" cy="320040"/>
          </a:xfrm>
          <a:prstGeom prst="rect">
            <a:avLst/>
          </a:prstGeom>
          <a:noFill/>
        </p:spPr>
        <p:txBody>
          <a:bodyPr wrap="none">
            <a:spAutoFit/>
          </a:bodyPr>
          <a:lstStyle/>
          <a:p>
            <a:pPr algn="ctr">
              <a:defRPr sz="1600" b="1">
                <a:solidFill>
                  <a:srgbClr val="FFFFFF"/>
                </a:solidFill>
              </a:defRPr>
            </a:pPr>
            <a:r>
              <a:t>2</a:t>
            </a:r>
          </a:p>
        </p:txBody>
      </p:sp>
      <p:sp>
        <p:nvSpPr>
          <p:cNvPr id="11" name="TextBox 10"/>
          <p:cNvSpPr txBox="1"/>
          <p:nvPr/>
        </p:nvSpPr>
        <p:spPr>
          <a:xfrm>
            <a:off x="2194560" y="2651760"/>
            <a:ext cx="1325880" cy="1005840"/>
          </a:xfrm>
          <a:prstGeom prst="rect">
            <a:avLst/>
          </a:prstGeom>
          <a:noFill/>
        </p:spPr>
        <p:txBody>
          <a:bodyPr wrap="none">
            <a:spAutoFit/>
          </a:bodyPr>
          <a:lstStyle/>
          <a:p>
            <a:pPr algn="ctr">
              <a:defRPr sz="1400" b="1">
                <a:solidFill>
                  <a:srgbClr val="16233A"/>
                </a:solidFill>
              </a:defRPr>
            </a:pPr>
            <a:r>
              <a:t>Clean &amp; Prepare</a:t>
            </a:r>
          </a:p>
        </p:txBody>
      </p:sp>
      <p:sp>
        <p:nvSpPr>
          <p:cNvPr id="12" name="Chevron 11"/>
          <p:cNvSpPr/>
          <p:nvPr/>
        </p:nvSpPr>
        <p:spPr>
          <a:xfrm>
            <a:off x="3291840" y="1975104"/>
            <a:ext cx="685800" cy="347472"/>
          </a:xfrm>
          <a:prstGeom prst="chevron">
            <a:avLst/>
          </a:prstGeom>
          <a:solidFill>
            <a:srgbClr val="BECD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434840" y="1828800"/>
            <a:ext cx="658368" cy="658368"/>
          </a:xfrm>
          <a:prstGeom prst="ellipse">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938528"/>
            <a:ext cx="658368" cy="320040"/>
          </a:xfrm>
          <a:prstGeom prst="rect">
            <a:avLst/>
          </a:prstGeom>
          <a:noFill/>
        </p:spPr>
        <p:txBody>
          <a:bodyPr wrap="none">
            <a:spAutoFit/>
          </a:bodyPr>
          <a:lstStyle/>
          <a:p>
            <a:pPr algn="ctr">
              <a:defRPr sz="1600" b="1">
                <a:solidFill>
                  <a:srgbClr val="FFFFFF"/>
                </a:solidFill>
              </a:defRPr>
            </a:pPr>
            <a:r>
              <a:t>3</a:t>
            </a:r>
          </a:p>
        </p:txBody>
      </p:sp>
      <p:sp>
        <p:nvSpPr>
          <p:cNvPr id="15" name="TextBox 14"/>
          <p:cNvSpPr txBox="1"/>
          <p:nvPr/>
        </p:nvSpPr>
        <p:spPr>
          <a:xfrm>
            <a:off x="4114800" y="2651760"/>
            <a:ext cx="1325880" cy="1005840"/>
          </a:xfrm>
          <a:prstGeom prst="rect">
            <a:avLst/>
          </a:prstGeom>
          <a:noFill/>
        </p:spPr>
        <p:txBody>
          <a:bodyPr wrap="none">
            <a:spAutoFit/>
          </a:bodyPr>
          <a:lstStyle/>
          <a:p>
            <a:pPr algn="ctr">
              <a:defRPr sz="1400" b="1">
                <a:solidFill>
                  <a:srgbClr val="16233A"/>
                </a:solidFill>
              </a:defRPr>
            </a:pPr>
            <a:r>
              <a:t>Create Risk Label</a:t>
            </a:r>
          </a:p>
        </p:txBody>
      </p:sp>
      <p:sp>
        <p:nvSpPr>
          <p:cNvPr id="16" name="Chevron 15"/>
          <p:cNvSpPr/>
          <p:nvPr/>
        </p:nvSpPr>
        <p:spPr>
          <a:xfrm>
            <a:off x="5212080" y="1975104"/>
            <a:ext cx="685800" cy="347472"/>
          </a:xfrm>
          <a:prstGeom prst="chevron">
            <a:avLst/>
          </a:prstGeom>
          <a:solidFill>
            <a:srgbClr val="BECD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55080" y="1828800"/>
            <a:ext cx="658368" cy="658368"/>
          </a:xfrm>
          <a:prstGeom prst="ellipse">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1938528"/>
            <a:ext cx="658368" cy="320040"/>
          </a:xfrm>
          <a:prstGeom prst="rect">
            <a:avLst/>
          </a:prstGeom>
          <a:noFill/>
        </p:spPr>
        <p:txBody>
          <a:bodyPr wrap="none">
            <a:spAutoFit/>
          </a:bodyPr>
          <a:lstStyle/>
          <a:p>
            <a:pPr algn="ctr">
              <a:defRPr sz="1600" b="1">
                <a:solidFill>
                  <a:srgbClr val="FFFFFF"/>
                </a:solidFill>
              </a:defRPr>
            </a:pPr>
            <a:r>
              <a:t>4</a:t>
            </a:r>
          </a:p>
        </p:txBody>
      </p:sp>
      <p:sp>
        <p:nvSpPr>
          <p:cNvPr id="19" name="TextBox 18"/>
          <p:cNvSpPr txBox="1"/>
          <p:nvPr/>
        </p:nvSpPr>
        <p:spPr>
          <a:xfrm>
            <a:off x="6035040" y="2651760"/>
            <a:ext cx="1325880" cy="1005840"/>
          </a:xfrm>
          <a:prstGeom prst="rect">
            <a:avLst/>
          </a:prstGeom>
          <a:noFill/>
        </p:spPr>
        <p:txBody>
          <a:bodyPr wrap="none">
            <a:spAutoFit/>
          </a:bodyPr>
          <a:lstStyle/>
          <a:p>
            <a:pPr algn="ctr">
              <a:defRPr sz="1400" b="1">
                <a:solidFill>
                  <a:srgbClr val="16233A"/>
                </a:solidFill>
              </a:defRPr>
            </a:pPr>
            <a:r>
              <a:t>Train Models</a:t>
            </a:r>
          </a:p>
        </p:txBody>
      </p:sp>
      <p:sp>
        <p:nvSpPr>
          <p:cNvPr id="20" name="Chevron 19"/>
          <p:cNvSpPr/>
          <p:nvPr/>
        </p:nvSpPr>
        <p:spPr>
          <a:xfrm>
            <a:off x="7132320" y="1975104"/>
            <a:ext cx="685800" cy="347472"/>
          </a:xfrm>
          <a:prstGeom prst="chevron">
            <a:avLst/>
          </a:prstGeom>
          <a:solidFill>
            <a:srgbClr val="BECD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75320" y="1828800"/>
            <a:ext cx="658368" cy="658368"/>
          </a:xfrm>
          <a:prstGeom prst="ellipse">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75320" y="1938528"/>
            <a:ext cx="658368" cy="320040"/>
          </a:xfrm>
          <a:prstGeom prst="rect">
            <a:avLst/>
          </a:prstGeom>
          <a:noFill/>
        </p:spPr>
        <p:txBody>
          <a:bodyPr wrap="none">
            <a:spAutoFit/>
          </a:bodyPr>
          <a:lstStyle/>
          <a:p>
            <a:pPr algn="ctr">
              <a:defRPr sz="1600" b="1">
                <a:solidFill>
                  <a:srgbClr val="FFFFFF"/>
                </a:solidFill>
              </a:defRPr>
            </a:pPr>
            <a:r>
              <a:t>5</a:t>
            </a:r>
          </a:p>
        </p:txBody>
      </p:sp>
      <p:sp>
        <p:nvSpPr>
          <p:cNvPr id="23" name="TextBox 22"/>
          <p:cNvSpPr txBox="1"/>
          <p:nvPr/>
        </p:nvSpPr>
        <p:spPr>
          <a:xfrm>
            <a:off x="7955280" y="2651760"/>
            <a:ext cx="1325880" cy="1005840"/>
          </a:xfrm>
          <a:prstGeom prst="rect">
            <a:avLst/>
          </a:prstGeom>
          <a:noFill/>
        </p:spPr>
        <p:txBody>
          <a:bodyPr wrap="none">
            <a:spAutoFit/>
          </a:bodyPr>
          <a:lstStyle/>
          <a:p>
            <a:pPr algn="ctr">
              <a:defRPr sz="1400" b="1">
                <a:solidFill>
                  <a:srgbClr val="16233A"/>
                </a:solidFill>
              </a:defRPr>
            </a:pPr>
            <a:r>
              <a:t>Evaluate</a:t>
            </a:r>
          </a:p>
        </p:txBody>
      </p:sp>
      <p:sp>
        <p:nvSpPr>
          <p:cNvPr id="24" name="Chevron 23"/>
          <p:cNvSpPr/>
          <p:nvPr/>
        </p:nvSpPr>
        <p:spPr>
          <a:xfrm>
            <a:off x="9052560" y="1975104"/>
            <a:ext cx="685800" cy="347472"/>
          </a:xfrm>
          <a:prstGeom prst="chevron">
            <a:avLst/>
          </a:prstGeom>
          <a:solidFill>
            <a:srgbClr val="BECD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195560" y="1828800"/>
            <a:ext cx="658368" cy="658368"/>
          </a:xfrm>
          <a:prstGeom prst="ellipse">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95560" y="1938528"/>
            <a:ext cx="658368" cy="320040"/>
          </a:xfrm>
          <a:prstGeom prst="rect">
            <a:avLst/>
          </a:prstGeom>
          <a:noFill/>
        </p:spPr>
        <p:txBody>
          <a:bodyPr wrap="none">
            <a:spAutoFit/>
          </a:bodyPr>
          <a:lstStyle/>
          <a:p>
            <a:pPr algn="ctr">
              <a:defRPr sz="1600" b="1">
                <a:solidFill>
                  <a:srgbClr val="FFFFFF"/>
                </a:solidFill>
              </a:defRPr>
            </a:pPr>
            <a:r>
              <a:t>6</a:t>
            </a:r>
          </a:p>
        </p:txBody>
      </p:sp>
      <p:sp>
        <p:nvSpPr>
          <p:cNvPr id="27" name="TextBox 26"/>
          <p:cNvSpPr txBox="1"/>
          <p:nvPr/>
        </p:nvSpPr>
        <p:spPr>
          <a:xfrm>
            <a:off x="9875520" y="2651760"/>
            <a:ext cx="1325880" cy="1005840"/>
          </a:xfrm>
          <a:prstGeom prst="rect">
            <a:avLst/>
          </a:prstGeom>
          <a:noFill/>
        </p:spPr>
        <p:txBody>
          <a:bodyPr wrap="none">
            <a:spAutoFit/>
          </a:bodyPr>
          <a:lstStyle/>
          <a:p>
            <a:pPr algn="ctr">
              <a:defRPr sz="1400" b="1">
                <a:solidFill>
                  <a:srgbClr val="16233A"/>
                </a:solidFill>
              </a:defRPr>
            </a:pPr>
            <a:r>
              <a:t>Explain Factors</a:t>
            </a:r>
          </a:p>
        </p:txBody>
      </p:sp>
      <p:sp>
        <p:nvSpPr>
          <p:cNvPr id="28" name="TextBox 27"/>
          <p:cNvSpPr txBox="1"/>
          <p:nvPr/>
        </p:nvSpPr>
        <p:spPr>
          <a:xfrm>
            <a:off x="1005840" y="4206240"/>
            <a:ext cx="10149840" cy="1005840"/>
          </a:xfrm>
          <a:prstGeom prst="rect">
            <a:avLst/>
          </a:prstGeom>
          <a:noFill/>
        </p:spPr>
        <p:txBody>
          <a:bodyPr wrap="none">
            <a:spAutoFit/>
          </a:bodyPr>
          <a:lstStyle/>
          <a:p>
            <a:pPr algn="ctr">
              <a:defRPr sz="2200" b="1">
                <a:solidFill>
                  <a:srgbClr val="232D3C"/>
                </a:solidFill>
              </a:defRPr>
            </a:pPr>
            <a:r>
              <a:t>Output: Risk prediction + probability/label + explanation of influential factors</a:t>
            </a:r>
          </a:p>
        </p:txBody>
      </p:sp>
      <p:sp>
        <p:nvSpPr>
          <p:cNvPr id="29" name="TextBox 28"/>
          <p:cNvSpPr txBox="1"/>
          <p:nvPr/>
        </p:nvSpPr>
        <p:spPr>
          <a:xfrm>
            <a:off x="10881360" y="6473952"/>
            <a:ext cx="640080" cy="228600"/>
          </a:xfrm>
          <a:prstGeom prst="rect">
            <a:avLst/>
          </a:prstGeom>
          <a:noFill/>
        </p:spPr>
        <p:txBody>
          <a:bodyPr wrap="none">
            <a:spAutoFit/>
          </a:bodyPr>
          <a:lstStyle/>
          <a:p>
            <a:pPr algn="r">
              <a:defRPr sz="1000">
                <a:solidFill>
                  <a:srgbClr val="69737D"/>
                </a:solidFill>
              </a:defRPr>
            </a:pPr>
            <a:r>
              <a:t>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6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1155680" cy="411480"/>
          </a:xfrm>
          <a:prstGeom prst="rect">
            <a:avLst/>
          </a:prstGeom>
          <a:noFill/>
        </p:spPr>
        <p:txBody>
          <a:bodyPr wrap="none">
            <a:spAutoFit/>
          </a:bodyPr>
          <a:lstStyle/>
          <a:p>
            <a:pPr>
              <a:defRPr sz="2700" b="1">
                <a:solidFill>
                  <a:srgbClr val="FFFFFF"/>
                </a:solidFill>
              </a:defRPr>
            </a:pPr>
            <a:r>
              <a:t>5. Machine Learning Techniques</a:t>
            </a:r>
          </a:p>
        </p:txBody>
      </p:sp>
      <p:sp>
        <p:nvSpPr>
          <p:cNvPr id="5" name="Rounded Rectangle 4"/>
          <p:cNvSpPr/>
          <p:nvPr/>
        </p:nvSpPr>
        <p:spPr>
          <a:xfrm>
            <a:off x="594360" y="1234440"/>
            <a:ext cx="3520440" cy="4480560"/>
          </a:xfrm>
          <a:prstGeom prst="roundRect">
            <a:avLst/>
          </a:prstGeom>
          <a:solidFill>
            <a:srgbClr val="F1F6FC"/>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234440"/>
            <a:ext cx="73152" cy="4480560"/>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399032"/>
            <a:ext cx="3154680" cy="411480"/>
          </a:xfrm>
          <a:prstGeom prst="rect">
            <a:avLst/>
          </a:prstGeom>
          <a:noFill/>
        </p:spPr>
        <p:txBody>
          <a:bodyPr wrap="none">
            <a:spAutoFit/>
          </a:bodyPr>
          <a:lstStyle/>
          <a:p>
            <a:pPr>
              <a:defRPr sz="1800" b="1">
                <a:solidFill>
                  <a:srgbClr val="16233A"/>
                </a:solidFill>
              </a:defRPr>
            </a:pPr>
            <a:r>
              <a:t>Logistic Regression</a:t>
            </a:r>
          </a:p>
        </p:txBody>
      </p:sp>
      <p:sp>
        <p:nvSpPr>
          <p:cNvPr id="8" name="TextBox 7"/>
          <p:cNvSpPr txBox="1"/>
          <p:nvPr/>
        </p:nvSpPr>
        <p:spPr>
          <a:xfrm>
            <a:off x="795528" y="1892808"/>
            <a:ext cx="3154680" cy="3657600"/>
          </a:xfrm>
          <a:prstGeom prst="rect">
            <a:avLst/>
          </a:prstGeom>
          <a:noFill/>
        </p:spPr>
        <p:txBody>
          <a:bodyPr wrap="none">
            <a:spAutoFit/>
          </a:bodyPr>
          <a:lstStyle/>
          <a:p>
            <a:pPr>
              <a:defRPr sz="1400">
                <a:solidFill>
                  <a:srgbClr val="232D3C"/>
                </a:solidFill>
              </a:defRPr>
            </a:pPr>
            <a:r>
              <a:t>• Simple classification model</a:t>
            </a:r>
            <a:br/>
            <a:r>
              <a:t>• Produces a risk probability</a:t>
            </a:r>
            <a:br/>
            <a:r>
              <a:t>• Easy to interpret</a:t>
            </a:r>
            <a:br/>
            <a:r>
              <a:t>• Good baseline model</a:t>
            </a:r>
          </a:p>
        </p:txBody>
      </p:sp>
      <p:sp>
        <p:nvSpPr>
          <p:cNvPr id="9" name="Rounded Rectangle 8"/>
          <p:cNvSpPr/>
          <p:nvPr/>
        </p:nvSpPr>
        <p:spPr>
          <a:xfrm>
            <a:off x="4343400" y="1234440"/>
            <a:ext cx="3520440" cy="4480560"/>
          </a:xfrm>
          <a:prstGeom prst="roundRect">
            <a:avLst/>
          </a:prstGeom>
          <a:solidFill>
            <a:srgbClr val="F1F6FC"/>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234440"/>
            <a:ext cx="73152" cy="4480560"/>
          </a:xfrm>
          <a:prstGeom prst="rect">
            <a:avLst/>
          </a:prstGeom>
          <a:solidFill>
            <a:srgbClr val="E6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1399032"/>
            <a:ext cx="3154680" cy="411480"/>
          </a:xfrm>
          <a:prstGeom prst="rect">
            <a:avLst/>
          </a:prstGeom>
          <a:noFill/>
        </p:spPr>
        <p:txBody>
          <a:bodyPr wrap="none">
            <a:spAutoFit/>
          </a:bodyPr>
          <a:lstStyle/>
          <a:p>
            <a:pPr>
              <a:defRPr sz="1800" b="1">
                <a:solidFill>
                  <a:srgbClr val="16233A"/>
                </a:solidFill>
              </a:defRPr>
            </a:pPr>
            <a:r>
              <a:t>Decision Tree</a:t>
            </a:r>
          </a:p>
        </p:txBody>
      </p:sp>
      <p:sp>
        <p:nvSpPr>
          <p:cNvPr id="12" name="TextBox 11"/>
          <p:cNvSpPr txBox="1"/>
          <p:nvPr/>
        </p:nvSpPr>
        <p:spPr>
          <a:xfrm>
            <a:off x="4544568" y="1892808"/>
            <a:ext cx="3154680" cy="3657600"/>
          </a:xfrm>
          <a:prstGeom prst="rect">
            <a:avLst/>
          </a:prstGeom>
          <a:noFill/>
        </p:spPr>
        <p:txBody>
          <a:bodyPr wrap="none">
            <a:spAutoFit/>
          </a:bodyPr>
          <a:lstStyle/>
          <a:p>
            <a:pPr>
              <a:defRPr sz="1400">
                <a:solidFill>
                  <a:srgbClr val="232D3C"/>
                </a:solidFill>
              </a:defRPr>
            </a:pPr>
            <a:r>
              <a:t>• Uses if–then style decisions</a:t>
            </a:r>
            <a:br/>
            <a:r>
              <a:t>• Easy to visualize</a:t>
            </a:r>
            <a:br/>
            <a:r>
              <a:t>• Handles mixed features</a:t>
            </a:r>
            <a:br/>
            <a:r>
              <a:t>• Shows important decision factors</a:t>
            </a:r>
          </a:p>
        </p:txBody>
      </p:sp>
      <p:sp>
        <p:nvSpPr>
          <p:cNvPr id="13" name="Rounded Rectangle 12"/>
          <p:cNvSpPr/>
          <p:nvPr/>
        </p:nvSpPr>
        <p:spPr>
          <a:xfrm>
            <a:off x="8092440" y="1234440"/>
            <a:ext cx="3520440" cy="4480560"/>
          </a:xfrm>
          <a:prstGeom prst="roundRect">
            <a:avLst/>
          </a:prstGeom>
          <a:solidFill>
            <a:srgbClr val="F1F6FC"/>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234440"/>
            <a:ext cx="73152" cy="4480560"/>
          </a:xfrm>
          <a:prstGeom prst="rect">
            <a:avLst/>
          </a:prstGeom>
          <a:solidFill>
            <a:srgbClr val="2D8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93608" y="1399032"/>
            <a:ext cx="3154680" cy="411480"/>
          </a:xfrm>
          <a:prstGeom prst="rect">
            <a:avLst/>
          </a:prstGeom>
          <a:noFill/>
        </p:spPr>
        <p:txBody>
          <a:bodyPr wrap="none">
            <a:spAutoFit/>
          </a:bodyPr>
          <a:lstStyle/>
          <a:p>
            <a:pPr>
              <a:defRPr sz="1800" b="1">
                <a:solidFill>
                  <a:srgbClr val="16233A"/>
                </a:solidFill>
              </a:defRPr>
            </a:pPr>
            <a:r>
              <a:t>Random Forest</a:t>
            </a:r>
          </a:p>
        </p:txBody>
      </p:sp>
      <p:sp>
        <p:nvSpPr>
          <p:cNvPr id="16" name="TextBox 15"/>
          <p:cNvSpPr txBox="1"/>
          <p:nvPr/>
        </p:nvSpPr>
        <p:spPr>
          <a:xfrm>
            <a:off x="8293608" y="1892808"/>
            <a:ext cx="3154680" cy="3657600"/>
          </a:xfrm>
          <a:prstGeom prst="rect">
            <a:avLst/>
          </a:prstGeom>
          <a:noFill/>
        </p:spPr>
        <p:txBody>
          <a:bodyPr wrap="none">
            <a:spAutoFit/>
          </a:bodyPr>
          <a:lstStyle/>
          <a:p>
            <a:pPr>
              <a:defRPr sz="1400">
                <a:solidFill>
                  <a:srgbClr val="232D3C"/>
                </a:solidFill>
              </a:defRPr>
            </a:pPr>
            <a:r>
              <a:t>• Combines many decision trees</a:t>
            </a:r>
            <a:br/>
            <a:r>
              <a:t>• Usually more robust than one tree</a:t>
            </a:r>
            <a:br/>
            <a:r>
              <a:t>• Captures nonlinear patterns</a:t>
            </a:r>
            <a:br/>
            <a:r>
              <a:t>• Provides feature importance</a:t>
            </a:r>
          </a:p>
        </p:txBody>
      </p:sp>
      <p:sp>
        <p:nvSpPr>
          <p:cNvPr id="17" name="TextBox 16"/>
          <p:cNvSpPr txBox="1"/>
          <p:nvPr/>
        </p:nvSpPr>
        <p:spPr>
          <a:xfrm>
            <a:off x="10881360" y="6473952"/>
            <a:ext cx="640080" cy="228600"/>
          </a:xfrm>
          <a:prstGeom prst="rect">
            <a:avLst/>
          </a:prstGeom>
          <a:noFill/>
        </p:spPr>
        <p:txBody>
          <a:bodyPr wrap="none">
            <a:spAutoFit/>
          </a:bodyPr>
          <a:lstStyle/>
          <a:p>
            <a:pPr algn="r">
              <a:defRPr sz="1000">
                <a:solidFill>
                  <a:srgbClr val="69737D"/>
                </a:solidFill>
              </a:defRPr>
            </a:pPr>
            <a:r>
              <a:t>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6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1155680" cy="411480"/>
          </a:xfrm>
          <a:prstGeom prst="rect">
            <a:avLst/>
          </a:prstGeom>
          <a:noFill/>
        </p:spPr>
        <p:txBody>
          <a:bodyPr wrap="none">
            <a:spAutoFit/>
          </a:bodyPr>
          <a:lstStyle/>
          <a:p>
            <a:pPr>
              <a:defRPr sz="2700" b="1">
                <a:solidFill>
                  <a:srgbClr val="FFFFFF"/>
                </a:solidFill>
              </a:defRPr>
            </a:pPr>
            <a:r>
              <a:t>6. Model Evaluation</a:t>
            </a:r>
          </a:p>
        </p:txBody>
      </p:sp>
      <p:sp>
        <p:nvSpPr>
          <p:cNvPr id="5" name="TextBox 4"/>
          <p:cNvSpPr txBox="1"/>
          <p:nvPr/>
        </p:nvSpPr>
        <p:spPr>
          <a:xfrm>
            <a:off x="731520" y="1325880"/>
            <a:ext cx="10789920" cy="4937760"/>
          </a:xfrm>
          <a:prstGeom prst="rect">
            <a:avLst/>
          </a:prstGeom>
          <a:noFill/>
        </p:spPr>
        <p:txBody>
          <a:bodyPr wrap="square">
            <a:spAutoFit/>
          </a:bodyPr>
          <a:lstStyle/>
          <a:p>
            <a:pPr>
              <a:spcAft>
                <a:spcPts val="1200"/>
              </a:spcAft>
              <a:defRPr sz="1900" b="0">
                <a:solidFill>
                  <a:srgbClr val="232D3C"/>
                </a:solidFill>
              </a:defRPr>
            </a:pPr>
            <a:r>
              <a:t>Split the data into training and testing sets.</a:t>
            </a:r>
          </a:p>
          <a:p>
            <a:pPr>
              <a:spcAft>
                <a:spcPts val="1200"/>
              </a:spcAft>
              <a:defRPr sz="1900" b="0">
                <a:solidFill>
                  <a:srgbClr val="232D3C"/>
                </a:solidFill>
              </a:defRPr>
            </a:pPr>
            <a:r>
              <a:t>Compare Logistic Regression, Decision Tree and Random Forest using the same test data.</a:t>
            </a:r>
          </a:p>
          <a:p>
            <a:pPr>
              <a:spcAft>
                <a:spcPts val="1200"/>
              </a:spcAft>
              <a:defRPr sz="1900" b="0">
                <a:solidFill>
                  <a:srgbClr val="232D3C"/>
                </a:solidFill>
              </a:defRPr>
            </a:pPr>
            <a:r>
              <a:t>Key metrics: Accuracy, Precision, Recall, F1-score and Confusion Matrix.</a:t>
            </a:r>
          </a:p>
          <a:p>
            <a:pPr>
              <a:spcAft>
                <a:spcPts val="1200"/>
              </a:spcAft>
              <a:defRPr sz="1900" b="0">
                <a:solidFill>
                  <a:srgbClr val="232D3C"/>
                </a:solidFill>
              </a:defRPr>
            </a:pPr>
            <a:r>
              <a:t>For an early-warning system, Recall is especially useful because missing an actually at-risk student can be costly.</a:t>
            </a:r>
          </a:p>
          <a:p>
            <a:pPr>
              <a:spcAft>
                <a:spcPts val="1200"/>
              </a:spcAft>
              <a:defRPr sz="1900" b="0">
                <a:solidFill>
                  <a:srgbClr val="232D3C"/>
                </a:solidFill>
              </a:defRPr>
            </a:pPr>
            <a:r>
              <a:t>Select the model that gives a good balance of predictive performance and interpretability.</a:t>
            </a:r>
          </a:p>
        </p:txBody>
      </p:sp>
      <p:sp>
        <p:nvSpPr>
          <p:cNvPr id="6" name="TextBox 5"/>
          <p:cNvSpPr txBox="1"/>
          <p:nvPr/>
        </p:nvSpPr>
        <p:spPr>
          <a:xfrm>
            <a:off x="10881360" y="6473952"/>
            <a:ext cx="640080" cy="228600"/>
          </a:xfrm>
          <a:prstGeom prst="rect">
            <a:avLst/>
          </a:prstGeom>
          <a:noFill/>
        </p:spPr>
        <p:txBody>
          <a:bodyPr wrap="none">
            <a:spAutoFit/>
          </a:bodyPr>
          <a:lstStyle/>
          <a:p>
            <a:pPr algn="r">
              <a:defRPr sz="1000">
                <a:solidFill>
                  <a:srgbClr val="69737D"/>
                </a:solidFill>
              </a:defRPr>
            </a:pPr>
            <a:r>
              <a:t>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6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1155680" cy="411480"/>
          </a:xfrm>
          <a:prstGeom prst="rect">
            <a:avLst/>
          </a:prstGeom>
          <a:noFill/>
        </p:spPr>
        <p:txBody>
          <a:bodyPr wrap="none">
            <a:spAutoFit/>
          </a:bodyPr>
          <a:lstStyle/>
          <a:p>
            <a:pPr>
              <a:defRPr sz="2700" b="1">
                <a:solidFill>
                  <a:srgbClr val="FFFFFF"/>
                </a:solidFill>
              </a:defRPr>
            </a:pPr>
            <a:r>
              <a:t>7. Factor Importance &amp; Explainability</a:t>
            </a:r>
          </a:p>
        </p:txBody>
      </p:sp>
      <p:sp>
        <p:nvSpPr>
          <p:cNvPr id="5" name="Rounded Rectangle 4"/>
          <p:cNvSpPr/>
          <p:nvPr/>
        </p:nvSpPr>
        <p:spPr>
          <a:xfrm>
            <a:off x="685800" y="1234440"/>
            <a:ext cx="3474720" cy="4389120"/>
          </a:xfrm>
          <a:prstGeom prst="roundRect">
            <a:avLst/>
          </a:prstGeom>
          <a:solidFill>
            <a:srgbClr val="F1F6FC"/>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234440"/>
            <a:ext cx="73152" cy="4389120"/>
          </a:xfrm>
          <a:prstGeom prst="rect">
            <a:avLst/>
          </a:prstGeom>
          <a:solidFill>
            <a:srgbClr val="CD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399032"/>
            <a:ext cx="3108960" cy="411480"/>
          </a:xfrm>
          <a:prstGeom prst="rect">
            <a:avLst/>
          </a:prstGeom>
          <a:noFill/>
        </p:spPr>
        <p:txBody>
          <a:bodyPr wrap="none">
            <a:spAutoFit/>
          </a:bodyPr>
          <a:lstStyle/>
          <a:p>
            <a:pPr>
              <a:defRPr sz="1800" b="1">
                <a:solidFill>
                  <a:srgbClr val="16233A"/>
                </a:solidFill>
              </a:defRPr>
            </a:pPr>
            <a:r>
              <a:t>Attendance</a:t>
            </a:r>
          </a:p>
        </p:txBody>
      </p:sp>
      <p:sp>
        <p:nvSpPr>
          <p:cNvPr id="8" name="TextBox 7"/>
          <p:cNvSpPr txBox="1"/>
          <p:nvPr/>
        </p:nvSpPr>
        <p:spPr>
          <a:xfrm>
            <a:off x="886968" y="1892808"/>
            <a:ext cx="3108960" cy="3566160"/>
          </a:xfrm>
          <a:prstGeom prst="rect">
            <a:avLst/>
          </a:prstGeom>
          <a:noFill/>
        </p:spPr>
        <p:txBody>
          <a:bodyPr wrap="none">
            <a:spAutoFit/>
          </a:bodyPr>
          <a:lstStyle/>
          <a:p>
            <a:pPr>
              <a:defRPr sz="1400">
                <a:solidFill>
                  <a:srgbClr val="232D3C"/>
                </a:solidFill>
              </a:defRPr>
            </a:pPr>
            <a:r>
              <a:t>Frequent absences can be a strong warning signal because reduced class participation may affect learning.</a:t>
            </a:r>
          </a:p>
        </p:txBody>
      </p:sp>
      <p:sp>
        <p:nvSpPr>
          <p:cNvPr id="9" name="Rounded Rectangle 8"/>
          <p:cNvSpPr/>
          <p:nvPr/>
        </p:nvSpPr>
        <p:spPr>
          <a:xfrm>
            <a:off x="4361688" y="1234440"/>
            <a:ext cx="3474720" cy="4389120"/>
          </a:xfrm>
          <a:prstGeom prst="roundRect">
            <a:avLst/>
          </a:prstGeom>
          <a:solidFill>
            <a:srgbClr val="F1F6FC"/>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234440"/>
            <a:ext cx="73152" cy="4389120"/>
          </a:xfrm>
          <a:prstGeom prst="rect">
            <a:avLst/>
          </a:prstGeom>
          <a:solidFill>
            <a:srgbClr val="E69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5" y="1399032"/>
            <a:ext cx="3108960" cy="411480"/>
          </a:xfrm>
          <a:prstGeom prst="rect">
            <a:avLst/>
          </a:prstGeom>
          <a:noFill/>
        </p:spPr>
        <p:txBody>
          <a:bodyPr wrap="none">
            <a:spAutoFit/>
          </a:bodyPr>
          <a:lstStyle/>
          <a:p>
            <a:pPr>
              <a:defRPr sz="1800" b="1">
                <a:solidFill>
                  <a:srgbClr val="16233A"/>
                </a:solidFill>
              </a:defRPr>
            </a:pPr>
            <a:r>
              <a:t>Academic Marks</a:t>
            </a:r>
          </a:p>
        </p:txBody>
      </p:sp>
      <p:sp>
        <p:nvSpPr>
          <p:cNvPr id="12" name="TextBox 11"/>
          <p:cNvSpPr txBox="1"/>
          <p:nvPr/>
        </p:nvSpPr>
        <p:spPr>
          <a:xfrm>
            <a:off x="4562855" y="1892808"/>
            <a:ext cx="3108960" cy="3566160"/>
          </a:xfrm>
          <a:prstGeom prst="rect">
            <a:avLst/>
          </a:prstGeom>
          <a:noFill/>
        </p:spPr>
        <p:txBody>
          <a:bodyPr wrap="none">
            <a:spAutoFit/>
          </a:bodyPr>
          <a:lstStyle/>
          <a:p>
            <a:pPr>
              <a:defRPr sz="1400">
                <a:solidFill>
                  <a:srgbClr val="232D3C"/>
                </a:solidFill>
              </a:defRPr>
            </a:pPr>
            <a:r>
              <a:t>Low internal/previous performance can indicate that a student needs additional support.</a:t>
            </a:r>
          </a:p>
        </p:txBody>
      </p:sp>
      <p:sp>
        <p:nvSpPr>
          <p:cNvPr id="13" name="Rounded Rectangle 12"/>
          <p:cNvSpPr/>
          <p:nvPr/>
        </p:nvSpPr>
        <p:spPr>
          <a:xfrm>
            <a:off x="8037575" y="1234440"/>
            <a:ext cx="3474720" cy="4389120"/>
          </a:xfrm>
          <a:prstGeom prst="roundRect">
            <a:avLst/>
          </a:prstGeom>
          <a:solidFill>
            <a:srgbClr val="F1F6FC"/>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37575" y="1234440"/>
            <a:ext cx="73152" cy="4389120"/>
          </a:xfrm>
          <a:prstGeom prst="rect">
            <a:avLst/>
          </a:prstGeom>
          <a:solidFill>
            <a:srgbClr val="2D8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38744" y="1399032"/>
            <a:ext cx="3108960" cy="411480"/>
          </a:xfrm>
          <a:prstGeom prst="rect">
            <a:avLst/>
          </a:prstGeom>
          <a:noFill/>
        </p:spPr>
        <p:txBody>
          <a:bodyPr wrap="none">
            <a:spAutoFit/>
          </a:bodyPr>
          <a:lstStyle/>
          <a:p>
            <a:pPr>
              <a:defRPr sz="1800" b="1">
                <a:solidFill>
                  <a:srgbClr val="16233A"/>
                </a:solidFill>
              </a:defRPr>
            </a:pPr>
            <a:r>
              <a:t>Study &amp; Background</a:t>
            </a:r>
          </a:p>
        </p:txBody>
      </p:sp>
      <p:sp>
        <p:nvSpPr>
          <p:cNvPr id="16" name="TextBox 15"/>
          <p:cNvSpPr txBox="1"/>
          <p:nvPr/>
        </p:nvSpPr>
        <p:spPr>
          <a:xfrm>
            <a:off x="8238744" y="1892808"/>
            <a:ext cx="3108960" cy="3566160"/>
          </a:xfrm>
          <a:prstGeom prst="rect">
            <a:avLst/>
          </a:prstGeom>
          <a:noFill/>
        </p:spPr>
        <p:txBody>
          <a:bodyPr wrap="none">
            <a:spAutoFit/>
          </a:bodyPr>
          <a:lstStyle/>
          <a:p>
            <a:pPr>
              <a:defRPr sz="1400">
                <a:solidFill>
                  <a:srgbClr val="232D3C"/>
                </a:solidFill>
              </a:defRPr>
            </a:pPr>
            <a:r>
              <a:t>Study time and selected family/background features can add useful context, but their influence should be measured from the trained model.</a:t>
            </a:r>
          </a:p>
        </p:txBody>
      </p:sp>
      <p:sp>
        <p:nvSpPr>
          <p:cNvPr id="17" name="TextBox 16"/>
          <p:cNvSpPr txBox="1"/>
          <p:nvPr/>
        </p:nvSpPr>
        <p:spPr>
          <a:xfrm>
            <a:off x="914400" y="5806440"/>
            <a:ext cx="10241280" cy="411480"/>
          </a:xfrm>
          <a:prstGeom prst="rect">
            <a:avLst/>
          </a:prstGeom>
          <a:noFill/>
        </p:spPr>
        <p:txBody>
          <a:bodyPr wrap="none">
            <a:spAutoFit/>
          </a:bodyPr>
          <a:lstStyle/>
          <a:p>
            <a:pPr algn="ctr">
              <a:defRPr sz="1400" i="1">
                <a:solidFill>
                  <a:srgbClr val="69737D"/>
                </a:solidFill>
              </a:defRPr>
            </a:pPr>
            <a:r>
              <a:t>Feature importance should be reported from the actual trained model—not assumed in advance.</a:t>
            </a:r>
          </a:p>
        </p:txBody>
      </p:sp>
      <p:sp>
        <p:nvSpPr>
          <p:cNvPr id="18" name="TextBox 17"/>
          <p:cNvSpPr txBox="1"/>
          <p:nvPr/>
        </p:nvSpPr>
        <p:spPr>
          <a:xfrm>
            <a:off x="10881360" y="6473952"/>
            <a:ext cx="640080" cy="228600"/>
          </a:xfrm>
          <a:prstGeom prst="rect">
            <a:avLst/>
          </a:prstGeom>
          <a:noFill/>
        </p:spPr>
        <p:txBody>
          <a:bodyPr wrap="none">
            <a:spAutoFit/>
          </a:bodyPr>
          <a:lstStyle/>
          <a:p>
            <a:pPr algn="r">
              <a:defRPr sz="1000">
                <a:solidFill>
                  <a:srgbClr val="69737D"/>
                </a:solidFill>
              </a:defRPr>
            </a:pPr>
            <a:r>
              <a:t>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6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1155680" cy="411480"/>
          </a:xfrm>
          <a:prstGeom prst="rect">
            <a:avLst/>
          </a:prstGeom>
          <a:noFill/>
        </p:spPr>
        <p:txBody>
          <a:bodyPr wrap="none">
            <a:spAutoFit/>
          </a:bodyPr>
          <a:lstStyle/>
          <a:p>
            <a:pPr>
              <a:defRPr sz="2700" b="1">
                <a:solidFill>
                  <a:srgbClr val="FFFFFF"/>
                </a:solidFill>
              </a:defRPr>
            </a:pPr>
            <a:r>
              <a:t>8. Expected System Output</a:t>
            </a:r>
          </a:p>
        </p:txBody>
      </p:sp>
      <p:sp>
        <p:nvSpPr>
          <p:cNvPr id="5" name="Rounded Rectangle 4"/>
          <p:cNvSpPr/>
          <p:nvPr/>
        </p:nvSpPr>
        <p:spPr>
          <a:xfrm>
            <a:off x="685800" y="1280160"/>
            <a:ext cx="5303520" cy="4297680"/>
          </a:xfrm>
          <a:prstGeom prst="roundRect">
            <a:avLst/>
          </a:prstGeom>
          <a:solidFill>
            <a:srgbClr val="F1F6FC"/>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280160"/>
            <a:ext cx="73152" cy="4297680"/>
          </a:xfrm>
          <a:prstGeom prst="rect">
            <a:avLst/>
          </a:prstGeom>
          <a:solidFill>
            <a:srgbClr val="346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444751"/>
            <a:ext cx="4937759" cy="411480"/>
          </a:xfrm>
          <a:prstGeom prst="rect">
            <a:avLst/>
          </a:prstGeom>
          <a:noFill/>
        </p:spPr>
        <p:txBody>
          <a:bodyPr wrap="none">
            <a:spAutoFit/>
          </a:bodyPr>
          <a:lstStyle/>
          <a:p>
            <a:pPr>
              <a:defRPr sz="1800" b="1">
                <a:solidFill>
                  <a:srgbClr val="16233A"/>
                </a:solidFill>
              </a:defRPr>
            </a:pPr>
            <a:r>
              <a:t>Student Input</a:t>
            </a:r>
          </a:p>
        </p:txBody>
      </p:sp>
      <p:sp>
        <p:nvSpPr>
          <p:cNvPr id="8" name="TextBox 7"/>
          <p:cNvSpPr txBox="1"/>
          <p:nvPr/>
        </p:nvSpPr>
        <p:spPr>
          <a:xfrm>
            <a:off x="886968" y="1938528"/>
            <a:ext cx="4937759" cy="3474720"/>
          </a:xfrm>
          <a:prstGeom prst="rect">
            <a:avLst/>
          </a:prstGeom>
          <a:noFill/>
        </p:spPr>
        <p:txBody>
          <a:bodyPr wrap="none">
            <a:spAutoFit/>
          </a:bodyPr>
          <a:lstStyle/>
          <a:p>
            <a:pPr>
              <a:defRPr sz="1400">
                <a:solidFill>
                  <a:srgbClr val="232D3C"/>
                </a:solidFill>
              </a:defRPr>
            </a:pPr>
            <a:r>
              <a:t>Attendance / absences</a:t>
            </a:r>
            <a:br/>
            <a:r>
              <a:t>Internal or previous marks</a:t>
            </a:r>
            <a:br/>
            <a:r>
              <a:t>Study time / study hours</a:t>
            </a:r>
            <a:br/>
            <a:r>
              <a:t>Family &amp; demographic features</a:t>
            </a:r>
          </a:p>
        </p:txBody>
      </p:sp>
      <p:sp>
        <p:nvSpPr>
          <p:cNvPr id="9" name="Rounded Rectangle 8"/>
          <p:cNvSpPr/>
          <p:nvPr/>
        </p:nvSpPr>
        <p:spPr>
          <a:xfrm>
            <a:off x="6217920" y="1280160"/>
            <a:ext cx="5303520" cy="4297680"/>
          </a:xfrm>
          <a:prstGeom prst="roundRect">
            <a:avLst/>
          </a:prstGeom>
          <a:solidFill>
            <a:srgbClr val="F1F6FC"/>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280160"/>
            <a:ext cx="73152" cy="4297680"/>
          </a:xfrm>
          <a:prstGeom prst="rect">
            <a:avLst/>
          </a:prstGeom>
          <a:solidFill>
            <a:srgbClr val="2D8C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9088" y="1444751"/>
            <a:ext cx="4937759" cy="411480"/>
          </a:xfrm>
          <a:prstGeom prst="rect">
            <a:avLst/>
          </a:prstGeom>
          <a:noFill/>
        </p:spPr>
        <p:txBody>
          <a:bodyPr wrap="none">
            <a:spAutoFit/>
          </a:bodyPr>
          <a:lstStyle/>
          <a:p>
            <a:pPr>
              <a:defRPr sz="1800" b="1">
                <a:solidFill>
                  <a:srgbClr val="16233A"/>
                </a:solidFill>
              </a:defRPr>
            </a:pPr>
            <a:r>
              <a:t>Prediction</a:t>
            </a:r>
          </a:p>
        </p:txBody>
      </p:sp>
      <p:sp>
        <p:nvSpPr>
          <p:cNvPr id="12" name="TextBox 11"/>
          <p:cNvSpPr txBox="1"/>
          <p:nvPr/>
        </p:nvSpPr>
        <p:spPr>
          <a:xfrm>
            <a:off x="6419088" y="1938528"/>
            <a:ext cx="4937759" cy="3474720"/>
          </a:xfrm>
          <a:prstGeom prst="rect">
            <a:avLst/>
          </a:prstGeom>
          <a:noFill/>
        </p:spPr>
        <p:txBody>
          <a:bodyPr wrap="none">
            <a:spAutoFit/>
          </a:bodyPr>
          <a:lstStyle/>
          <a:p>
            <a:pPr>
              <a:defRPr sz="1400">
                <a:solidFill>
                  <a:srgbClr val="232D3C"/>
                </a:solidFill>
              </a:defRPr>
            </a:pPr>
            <a:r>
              <a:t>Risk: YES / NO</a:t>
            </a:r>
            <a:br/>
            <a:r>
              <a:t>Risk probability</a:t>
            </a:r>
            <a:br/>
            <a:r>
              <a:t>Model used</a:t>
            </a:r>
            <a:br/>
            <a:r>
              <a:t>Top contributing factors</a:t>
            </a:r>
            <a:br/>
            <a:r>
              <a:t>Suggested academic follow-up</a:t>
            </a:r>
          </a:p>
        </p:txBody>
      </p:sp>
      <p:sp>
        <p:nvSpPr>
          <p:cNvPr id="13" name="TextBox 12"/>
          <p:cNvSpPr txBox="1"/>
          <p:nvPr/>
        </p:nvSpPr>
        <p:spPr>
          <a:xfrm>
            <a:off x="10881360" y="6473952"/>
            <a:ext cx="640080" cy="228600"/>
          </a:xfrm>
          <a:prstGeom prst="rect">
            <a:avLst/>
          </a:prstGeom>
          <a:noFill/>
        </p:spPr>
        <p:txBody>
          <a:bodyPr wrap="none">
            <a:spAutoFit/>
          </a:bodyPr>
          <a:lstStyle/>
          <a:p>
            <a:pPr algn="r">
              <a:defRPr sz="1000">
                <a:solidFill>
                  <a:srgbClr val="69737D"/>
                </a:solidFill>
              </a:defRPr>
            </a:pPr>
            <a:r>
              <a:t>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6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1155680" cy="411480"/>
          </a:xfrm>
          <a:prstGeom prst="rect">
            <a:avLst/>
          </a:prstGeom>
          <a:noFill/>
        </p:spPr>
        <p:txBody>
          <a:bodyPr wrap="none">
            <a:spAutoFit/>
          </a:bodyPr>
          <a:lstStyle/>
          <a:p>
            <a:pPr>
              <a:defRPr sz="2700" b="1">
                <a:solidFill>
                  <a:srgbClr val="FFFFFF"/>
                </a:solidFill>
              </a:defRPr>
            </a:pPr>
            <a:r>
              <a:t>9. Benefits, Limitations &amp; Future Scope</a:t>
            </a:r>
          </a:p>
        </p:txBody>
      </p:sp>
      <p:sp>
        <p:nvSpPr>
          <p:cNvPr id="5" name="TextBox 4"/>
          <p:cNvSpPr txBox="1"/>
          <p:nvPr/>
        </p:nvSpPr>
        <p:spPr>
          <a:xfrm>
            <a:off x="731520" y="1325880"/>
            <a:ext cx="10789920" cy="4937760"/>
          </a:xfrm>
          <a:prstGeom prst="rect">
            <a:avLst/>
          </a:prstGeom>
          <a:noFill/>
        </p:spPr>
        <p:txBody>
          <a:bodyPr wrap="square">
            <a:spAutoFit/>
          </a:bodyPr>
          <a:lstStyle/>
          <a:p>
            <a:pPr>
              <a:spcAft>
                <a:spcPts val="1200"/>
              </a:spcAft>
              <a:defRPr sz="1800" b="0">
                <a:solidFill>
                  <a:srgbClr val="232D3C"/>
                </a:solidFill>
              </a:defRPr>
            </a:pPr>
            <a:r>
              <a:t>Benefits: early intervention, data-driven support, simple visualization and understandable model comparison.</a:t>
            </a:r>
          </a:p>
          <a:p>
            <a:pPr>
              <a:spcAft>
                <a:spcPts val="1200"/>
              </a:spcAft>
              <a:defRPr sz="1800" b="0">
                <a:solidFill>
                  <a:srgbClr val="232D3C"/>
                </a:solidFill>
              </a:defRPr>
            </a:pPr>
            <a:r>
              <a:t>Limitations: the UCI Student Performance dataset is not a direct dropout dataset; proxy labels may not represent real discontinuation.</a:t>
            </a:r>
          </a:p>
          <a:p>
            <a:pPr>
              <a:spcAft>
                <a:spcPts val="1200"/>
              </a:spcAft>
              <a:defRPr sz="1800" b="0">
                <a:solidFill>
                  <a:srgbClr val="232D3C"/>
                </a:solidFill>
              </a:defRPr>
            </a:pPr>
            <a:r>
              <a:t>Future scope: add real institutional attendance/assessment records, a verified dropout label, dashboards, alerts and periodic model retraining.</a:t>
            </a:r>
          </a:p>
          <a:p>
            <a:pPr>
              <a:spcAft>
                <a:spcPts val="1200"/>
              </a:spcAft>
              <a:defRPr sz="1800" b="0">
                <a:solidFill>
                  <a:srgbClr val="232D3C"/>
                </a:solidFill>
              </a:defRPr>
            </a:pPr>
            <a:r>
              <a:t>Ethical use: predictions should support students and teachers—not be used as a final judgment about a student's future.</a:t>
            </a:r>
          </a:p>
        </p:txBody>
      </p:sp>
      <p:sp>
        <p:nvSpPr>
          <p:cNvPr id="6" name="TextBox 5"/>
          <p:cNvSpPr txBox="1"/>
          <p:nvPr/>
        </p:nvSpPr>
        <p:spPr>
          <a:xfrm>
            <a:off x="10881360" y="6473952"/>
            <a:ext cx="640080" cy="228600"/>
          </a:xfrm>
          <a:prstGeom prst="rect">
            <a:avLst/>
          </a:prstGeom>
          <a:noFill/>
        </p:spPr>
        <p:txBody>
          <a:bodyPr wrap="none">
            <a:spAutoFit/>
          </a:bodyPr>
          <a:lstStyle/>
          <a:p>
            <a:pPr algn="r">
              <a:defRPr sz="1000">
                <a:solidFill>
                  <a:srgbClr val="69737D"/>
                </a:solidFill>
              </a:defRPr>
            </a:pPr>
            <a:r>
              <a:t>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508760"/>
            <a:ext cx="10332720" cy="914400"/>
          </a:xfrm>
          <a:prstGeom prst="rect">
            <a:avLst/>
          </a:prstGeom>
          <a:noFill/>
        </p:spPr>
        <p:txBody>
          <a:bodyPr wrap="none">
            <a:spAutoFit/>
          </a:bodyPr>
          <a:lstStyle/>
          <a:p>
            <a:pPr algn="ctr">
              <a:defRPr sz="3800" b="1">
                <a:solidFill>
                  <a:srgbClr val="FFFFFF"/>
                </a:solidFill>
              </a:defRPr>
            </a:pPr>
            <a:r>
              <a:t>Conclusion</a:t>
            </a:r>
          </a:p>
        </p:txBody>
      </p:sp>
      <p:sp>
        <p:nvSpPr>
          <p:cNvPr id="4" name="TextBox 3"/>
          <p:cNvSpPr txBox="1"/>
          <p:nvPr/>
        </p:nvSpPr>
        <p:spPr>
          <a:xfrm>
            <a:off x="1097280" y="2743200"/>
            <a:ext cx="9966960" cy="2011680"/>
          </a:xfrm>
          <a:prstGeom prst="rect">
            <a:avLst/>
          </a:prstGeom>
          <a:noFill/>
        </p:spPr>
        <p:txBody>
          <a:bodyPr wrap="none">
            <a:spAutoFit/>
          </a:bodyPr>
          <a:lstStyle/>
          <a:p>
            <a:pPr algn="ctr">
              <a:defRPr sz="2200">
                <a:solidFill>
                  <a:srgbClr val="E1EBF8"/>
                </a:solidFill>
              </a:defRPr>
            </a:pPr>
            <a:r>
              <a:t>The Student Performance &amp; Dropout Predictor uses machine learning to identify students who may need early support. By comparing Logistic Regression, Decision Tree and Random Forest, the project combines prediction with explainability.</a:t>
            </a:r>
          </a:p>
        </p:txBody>
      </p:sp>
      <p:sp>
        <p:nvSpPr>
          <p:cNvPr id="5" name="TextBox 4"/>
          <p:cNvSpPr txBox="1"/>
          <p:nvPr/>
        </p:nvSpPr>
        <p:spPr>
          <a:xfrm>
            <a:off x="1371600" y="5074920"/>
            <a:ext cx="9418320" cy="640080"/>
          </a:xfrm>
          <a:prstGeom prst="rect">
            <a:avLst/>
          </a:prstGeom>
          <a:noFill/>
        </p:spPr>
        <p:txBody>
          <a:bodyPr wrap="none">
            <a:spAutoFit/>
          </a:bodyPr>
          <a:lstStyle/>
          <a:p>
            <a:pPr algn="ctr">
              <a:defRPr sz="2800" b="1">
                <a:solidFill>
                  <a:srgbClr val="FFFFFF"/>
                </a:solidFill>
              </a:defRPr>
            </a:pPr>
            <a:r>
              <a:t>Thank You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
          </a:xfrm>
          <a:prstGeom prst="rect">
            <a:avLst/>
          </a:prstGeom>
          <a:solidFill>
            <a:srgbClr val="16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8872"/>
            <a:ext cx="10972800" cy="411480"/>
          </a:xfrm>
          <a:prstGeom prst="rect">
            <a:avLst/>
          </a:prstGeom>
          <a:noFill/>
        </p:spPr>
        <p:txBody>
          <a:bodyPr wrap="none">
            <a:spAutoFit/>
          </a:bodyPr>
          <a:lstStyle/>
          <a:p>
            <a:pPr>
              <a:defRPr sz="2700" b="1">
                <a:solidFill>
                  <a:srgbClr val="FFFFFF"/>
                </a:solidFill>
              </a:defRPr>
            </a:pPr>
            <a:r>
              <a:t>2. Abstract</a:t>
            </a:r>
          </a:p>
        </p:txBody>
      </p:sp>
      <p:sp>
        <p:nvSpPr>
          <p:cNvPr id="5" name="Rounded Rectangle 4"/>
          <p:cNvSpPr/>
          <p:nvPr/>
        </p:nvSpPr>
        <p:spPr>
          <a:xfrm>
            <a:off x="777240" y="1234440"/>
            <a:ext cx="10652760" cy="4480560"/>
          </a:xfrm>
          <a:prstGeom prst="roundRect">
            <a:avLst/>
          </a:prstGeom>
          <a:solidFill>
            <a:srgbClr val="F1F6FC"/>
          </a:solidFill>
          <a:ln>
            <a:solidFill>
              <a:srgbClr val="DC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9966960" cy="3566160"/>
          </a:xfrm>
          <a:prstGeom prst="rect">
            <a:avLst/>
          </a:prstGeom>
          <a:noFill/>
        </p:spPr>
        <p:txBody>
          <a:bodyPr wrap="square">
            <a:spAutoFit/>
          </a:bodyPr>
          <a:lstStyle/>
          <a:p>
            <a:pPr>
              <a:defRPr sz="2000">
                <a:solidFill>
                  <a:srgbClr val="232D3C"/>
                </a:solidFill>
              </a:defRPr>
            </a:pPr>
            <a:r>
              <a:t>The Student Performance &amp; Dropout Predictor is a beginner-friendly machine learning project designed to identify students who may be academically at risk. The system uses factors such as attendance or absences, internal or previous marks, study time and selected family-background features to predict an at-risk outcome. Logistic Regression, Decision Tree and Random Forest models are trained and compared using standard classification metrics. The project also focuses on explainability by identifying the factors that contribute most to the prediction. This can help teachers and institutions provide timely academic support and make data-driven interventions. The UCI Student Performance dataset is used for experimentation; because it does not directly provide a dropout label, a clearly defined proxy risk label is required for this project.</a:t>
            </a:r>
          </a:p>
        </p:txBody>
      </p:sp>
      <p:sp>
        <p:nvSpPr>
          <p:cNvPr id="7" name="TextBox 6"/>
          <p:cNvSpPr txBox="1"/>
          <p:nvPr/>
        </p:nvSpPr>
        <p:spPr>
          <a:xfrm>
            <a:off x="1097280" y="5074920"/>
            <a:ext cx="9966960" cy="502920"/>
          </a:xfrm>
          <a:prstGeom prst="rect">
            <a:avLst/>
          </a:prstGeom>
          <a:noFill/>
        </p:spPr>
        <p:txBody>
          <a:bodyPr wrap="none">
            <a:spAutoFit/>
          </a:bodyPr>
          <a:lstStyle/>
          <a:p>
            <a:pPr>
              <a:defRPr sz="1400" b="1">
                <a:solidFill>
                  <a:srgbClr val="3465A4"/>
                </a:solidFill>
              </a:defRPr>
            </a:pPr>
            <a:r>
              <a:t>Keywords: Machine Learning • Student Risk • Classification • Explainable AI • Early Intervention</a:t>
            </a:r>
          </a:p>
        </p:txBody>
      </p:sp>
      <p:sp>
        <p:nvSpPr>
          <p:cNvPr id="8" name="TextBox 7"/>
          <p:cNvSpPr txBox="1"/>
          <p:nvPr/>
        </p:nvSpPr>
        <p:spPr>
          <a:xfrm>
            <a:off x="10881360" y="6473952"/>
            <a:ext cx="640080" cy="228600"/>
          </a:xfrm>
          <a:prstGeom prst="rect">
            <a:avLst/>
          </a:prstGeom>
          <a:noFill/>
        </p:spPr>
        <p:txBody>
          <a:bodyPr wrap="none">
            <a:spAutoFit/>
          </a:bodyPr>
          <a:lstStyle/>
          <a:p>
            <a:pPr>
              <a:defRPr sz="1000">
                <a:solidFill>
                  <a:srgbClr val="69737D"/>
                </a:solidFill>
              </a:defRPr>
            </a:pPr>
            <a:r>
              <a: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