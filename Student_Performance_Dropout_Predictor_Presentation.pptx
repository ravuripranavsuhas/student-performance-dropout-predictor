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640080"/>
            <a:ext cx="2286000" cy="228600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103120"/>
            <a:ext cx="1463040" cy="1463040"/>
          </a:xfrm>
          <a:prstGeom prst="ellipse">
            <a:avLst/>
          </a:prstGeom>
          <a:solidFill>
            <a:srgbClr val="1C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55279" y="3200400"/>
            <a:ext cx="1097280" cy="1097280"/>
          </a:xfrm>
          <a:prstGeom prst="ellipse">
            <a:avLst/>
          </a:prstGeom>
          <a:solidFill>
            <a:srgbClr val="F0B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023360"/>
            <a:ext cx="1828800" cy="1828800"/>
          </a:xfrm>
          <a:prstGeom prst="ellipse">
            <a:avLst/>
          </a:prstGeom>
          <a:solidFill>
            <a:srgbClr val="264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7132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500" b="1">
                <a:solidFill>
                  <a:srgbClr val="1CA096"/>
                </a:solidFill>
                <a:latin typeface="Aptos"/>
              </a:defRPr>
            </a:pPr>
            <a:r>
              <a:t>MACHINE LEARNING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77240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Student Performance</a:t>
            </a:r>
            <a:br/>
            <a:r>
              <a:t>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657600"/>
            <a:ext cx="658368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900" b="0">
                <a:solidFill>
                  <a:srgbClr val="DCE6F2"/>
                </a:solidFill>
                <a:latin typeface="Aptos"/>
              </a:defRPr>
            </a:pPr>
            <a:r>
              <a:t>Predict academic risk. Explain key factors.</a:t>
            </a:r>
            <a:br/>
            <a:r>
              <a:t>Support earlier, more informed intervention.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6400800" cy="47815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200" b="0">
                <a:solidFill>
                  <a:srgbClr val="C8D7E6"/>
                </a:solidFill>
                <a:latin typeface="Aptos"/>
              </a:defRPr>
            </a:pPr>
            <a:r>
              <a:t>Presented by: </a:t>
            </a:r>
            <a:r>
              <a:rPr lang="en-US"/>
              <a:t>R.Pranav suhas</a:t>
            </a:r>
            <a:r>
              <a:t>      Roll No.: </a:t>
            </a:r>
            <a:r>
              <a:rPr lang="en-US"/>
              <a:t>2520030089</a:t>
            </a:r>
            <a:endParaRPr lang="en-US"/>
          </a:p>
          <a:p>
            <a:pPr>
              <a:defRPr sz="1200" b="0">
                <a:solidFill>
                  <a:srgbClr val="C8D7E6"/>
                </a:solidFill>
                <a:latin typeface="Aptos"/>
              </a:defRPr>
            </a:pPr>
            <a:r>
              <a:rPr lang="en-US"/>
              <a:t>presented by:A.Gnaneshwar        Roll No : 2520030494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59436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000" b="0">
                <a:solidFill>
                  <a:srgbClr val="AAC3D7"/>
                </a:solidFill>
                <a:latin typeface="Aptos"/>
              </a:defRPr>
            </a:pPr>
            <a:r>
              <a:t>Dataset: UCI Student Performance (with target-label limitation noted)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An educational data mining project that studies student-related factors and estimates academic risk.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Inputs may include attendance, internal marks, study time, family background, and previous grades—depending on dataset availability.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Compares Logistic Regression, Decision Tree, and Random Forest classification models.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Shows model performance and explains which available features contribute to predictions.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Designed as a decision-support tool for educators—not as an automatic decision-maker.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Academic difficulties may go unnoticed until examination results or attendance problems become serious.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Teachers may have limited time to manually review many student records and identify patterns.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A prediction model can help flag records that may need closer review.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The system should provide understandable reasons and encourage supportive action.</a:t>
            </a:r>
          </a:p>
          <a:p>
            <a:pPr>
              <a:spcAft>
                <a:spcPts val="1200"/>
              </a:spcAft>
              <a:defRPr sz="2000">
                <a:solidFill>
                  <a:srgbClr val="26303E"/>
                </a:solidFill>
                <a:latin typeface="Aptos"/>
              </a:defRPr>
            </a:pPr>
            <a:r>
              <a:t>•  Important: academic failure prediction and actual dropout prediction are different tasks and require different target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Analyze student-related data to identify patterns associated with academic outcomes.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Prepare and clean the dataset before model training.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Train and compare Logistic Regression, Decision Tree, and Random Forest.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Evaluate the models using accuracy, precision, recall, and F1-score.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Explain important features and present results in a simple, understandable form.</a:t>
            </a:r>
          </a:p>
          <a:p>
            <a:pPr>
              <a:spcAft>
                <a:spcPts val="1200"/>
              </a:spcAft>
              <a:defRPr sz="1900">
                <a:solidFill>
                  <a:srgbClr val="26303E"/>
                </a:solidFill>
                <a:latin typeface="Aptos"/>
              </a:defRPr>
            </a:pPr>
            <a:r>
              <a:t>•  Discuss dataset limitations, fairness, privacy, and responsible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Abstract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project applies machine learning to student data to estimate the likelihood of an academic-risk outcome.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Data preprocessing handles missing values, categorical variables, and feature scaling where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Three classification algorithms are trained and evaluated using a consistent evaluation process.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output can include a predicted class, evaluation metrics, and feature-level explanations.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Teachers can use the results to consider tutoring, mentoring, attendance follow-up, or study planning.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prediction is an indicator for review—not proof that a student will fail or leave school.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Dataset &amp; Input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Primary dataset: UCI Student Performance dataset (Cortez &amp; Silva, 2008).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Available variables include study time, absences, family and demographic information, and academic grades.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Data preparation: inspect columns, check missing values, encode categorical features, and separate features from the target.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Avoid data leakage: do not use information that would only become available after the time the prediction is supposed to be made.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Critical limitation: the standard UCI dataset does not contain a direct dropout/continuation label.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Therefore, use it for grade/pass-risk prediction unless a suitable, authorized dropout-labelled dataset is added.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1. Collect the dataset and understand the meaning of each column.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2. Clean data and handle missing values or inconsistent entries.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3. Select the target label and relevant input features.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4. Split data into training and testing sets; use stratification when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5. Train Logistic Regression, Decision Tree, and Random Forest.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6. Compare predictions using the same test set and evaluation metrics.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7. Display the results and explain limitations before suggesting supportive 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Machine Learning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1546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3154680" cy="164592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37360"/>
            <a:ext cx="27432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000" b="1">
                <a:solidFill>
                  <a:srgbClr val="12233E"/>
                </a:solidFill>
                <a:latin typeface="Aptos"/>
              </a:defRPr>
            </a:pPr>
            <a: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2743200" cy="2651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26303E"/>
                </a:solidFill>
                <a:latin typeface="Aptos"/>
              </a:defRPr>
            </a:pPr>
            <a:r>
              <a:t>A simple baseline for classification.</a:t>
            </a:r>
            <a:br/>
            <a:br/>
            <a:r>
              <a:t>Strength: relatively interpretable.</a:t>
            </a:r>
            <a:br/>
            <a:r>
              <a:t>Consideration: may not capture complex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1546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3154680" cy="164592"/>
          </a:xfrm>
          <a:prstGeom prst="rect">
            <a:avLst/>
          </a:prstGeom>
          <a:solidFill>
            <a:srgbClr val="1CA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737360"/>
            <a:ext cx="27432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000" b="1">
                <a:solidFill>
                  <a:srgbClr val="12233E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514600"/>
            <a:ext cx="2743200" cy="2651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26303E"/>
                </a:solidFill>
                <a:latin typeface="Aptos"/>
              </a:defRPr>
            </a:pPr>
            <a:r>
              <a:t>Uses a sequence of decision rules.</a:t>
            </a:r>
            <a:br/>
            <a:br/>
            <a:r>
              <a:t>Strength: easy to explain visually.</a:t>
            </a:r>
            <a:br/>
            <a:r>
              <a:t>Consideration: can overfit without constraints.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325880"/>
            <a:ext cx="31546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325880"/>
            <a:ext cx="3154680" cy="164592"/>
          </a:xfrm>
          <a:prstGeom prst="rect">
            <a:avLst/>
          </a:prstGeom>
          <a:solidFill>
            <a:srgbClr val="785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1737360"/>
            <a:ext cx="27432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2000" b="1">
                <a:solidFill>
                  <a:srgbClr val="12233E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2514600"/>
            <a:ext cx="2743200" cy="2651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1600" b="0">
                <a:solidFill>
                  <a:srgbClr val="26303E"/>
                </a:solidFill>
                <a:latin typeface="Aptos"/>
              </a:defRPr>
            </a:pPr>
            <a:r>
              <a:t>Combines predictions from many trees.</a:t>
            </a:r>
            <a:br/>
            <a:br/>
            <a:r>
              <a:t>Strength: captures varied patterns and is often robust.</a:t>
            </a:r>
            <a:br/>
            <a:r>
              <a:t>Consideration: less transparent than one tree.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defRPr sz="1700" b="1">
                <a:solidFill>
                  <a:srgbClr val="2D69B4"/>
                </a:solidFill>
                <a:latin typeface="Aptos"/>
              </a:defRPr>
            </a:pPr>
            <a:r>
              <a:t>The best model is determined by measured results—not assumed in advance.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Evaluation &amp;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Accuracy: proportion of all predictions that are correct.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Precision: among students flagged as at risk, how many are actually in the target risk class?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Recall: among students in the target risk class, how many did the model identify?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F1-score: balances precision and recall; useful when classes are imbalanced.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Confusion matrix: shows correct and incorrect predictions for each class.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Explainability: inspect Logistic Regression coefficients, Decision Tree rules, and Random Forest feature importance.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Report actual scores only after running the code; do not invent or assume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Literature Review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•  Cortez &amp; Silva (2008) introduced the UCI Student Performance dataset and explored data mining for school grades.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•  Educational data mining research uses student records to find patterns and predict academic outcomes.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•  Early-warning research highlights the value of identifying risk early enough for educators to respond.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•  Common challenges include differences in datasets, limited interpretability, and difficulty transferring models across schools.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•  Key gap for this project: combine a fair model comparison with understandable explanations and practical support suggestions.</a:t>
            </a:r>
          </a:p>
          <a:p>
            <a:pPr>
              <a:spcAft>
                <a:spcPts val="1200"/>
              </a:spcAft>
              <a:defRPr sz="1700">
                <a:solidFill>
                  <a:srgbClr val="26303E"/>
                </a:solidFill>
                <a:latin typeface="Aptos"/>
              </a:defRPr>
            </a:pPr>
            <a:r>
              <a:t>•  Scope note: true dropout prediction requires an actual dropout/continuation target—not just low grades.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Expected Outcomes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 cleaned and prepared student dataset suitable for the defined prediction task.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Three trained models with a fair comparison of evaluation metrics.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 clear summary of which available features are most associated with predictions.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 simple output that can help educators review potentially at-risk cases.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Support-oriented next steps such as tutoring, mentoring, or attendance follow-up.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Potential benefits: earlier awareness, consistent data review, and more informed educational support.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Limitations &amp; Ethical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RESPONSIBLE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UCI Student Performance dataset is not, by itself, a direct dropout dataset.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Model performance may be limited by small samples, missing data, noisy labels, or class imbalance.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Associations and feature importance do not prove that a factor causes an outcome.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Predictions may be biased or unreliable for students unlike those in the training data.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Protect student privacy; use only authorized data and avoid exposing identifiable records.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A teacher or qualified staff member should review results before any intervention or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Conclusion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835640" cy="516636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The project demonstrates how machine learning can help analyze academic-risk patterns in student data.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Logistic Regression, Decision Tree, and Random Forest provide three approaches to compare.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Interpretability and appropriate target labels are as important as model accuracy.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Future work: add validated dropout-labelled data, test models across terms, and monitor performance over time.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Future work: build a simple dashboard, provide privacy safeguards, and evaluate whether interventions improve outcomes.</a:t>
            </a:r>
          </a:p>
          <a:p>
            <a:pPr>
              <a:spcAft>
                <a:spcPts val="1200"/>
              </a:spcAft>
              <a:defRPr sz="1800">
                <a:solidFill>
                  <a:srgbClr val="26303E"/>
                </a:solidFill>
                <a:latin typeface="Aptos"/>
              </a:defRPr>
            </a:pPr>
            <a:r>
              <a:t>•  Final goal: support students earlier and more responsibly—not label or limit their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7899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0" y="182880"/>
            <a:ext cx="10515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1000" b="1">
                <a:solidFill>
                  <a:srgbClr val="B4D2EB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22860"/>
          </a:xfrm>
          <a:prstGeom prst="rect">
            <a:avLst/>
          </a:prstGeom>
          <a:solidFill>
            <a:srgbClr val="DCE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881360" cy="5212080"/>
          </a:xfrm>
          <a:prstGeom prst="rect">
            <a:avLst/>
          </a:prstGeom>
          <a:noFill/>
        </p:spPr>
        <p:txBody>
          <a:bodyPr wrap="square" lIns="73152" tIns="36576" rIns="73152" bIns="36576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•  Cortez, P., &amp; Silva, A. M. G. (2008). Using Data Mining to Predict Secondary School Student Performance. UCI Student Performance dataset.</a:t>
            </a:r>
          </a:p>
          <a:p>
            <a:pPr>
              <a:spcAft>
                <a:spcPts val="14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•  UCI Machine Learning Repository. Student Performance dataset. https://archive.ics.uci.edu/dataset/320/student+performance</a:t>
            </a:r>
          </a:p>
          <a:p>
            <a:pPr>
              <a:spcAft>
                <a:spcPts val="14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•  Zhang, Y. et al. (2021). Educational Data Mining Techniques for Student Performance Prediction: Method Review and Comparison Analysis. Frontiers in Psychology, 12, 698490. https://doi.org/10.3389/fpsyg.2021.698490</a:t>
            </a:r>
          </a:p>
          <a:p>
            <a:pPr>
              <a:spcAft>
                <a:spcPts val="14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•  McMahon, B. M., &amp; Sembiante, S. F. (2020). Re-envisioning the Purpose of Early Warning Systems. Review of Education, 8(1), 266–301. https://doi.org/10.1002/rev3.3183</a:t>
            </a:r>
          </a:p>
          <a:p>
            <a:pPr>
              <a:spcAft>
                <a:spcPts val="1400"/>
              </a:spcAft>
              <a:defRPr sz="1500">
                <a:solidFill>
                  <a:srgbClr val="26303E"/>
                </a:solidFill>
                <a:latin typeface="Aptos"/>
              </a:defRPr>
            </a:pPr>
            <a:r>
              <a:t>•  Pedregosa, F. et al. (2011). Scikit-learn: Machine Learning in Python. Journal of Machine Learning Research, 12, 2825–2830. https://jmlr.org/papers/v12/pedregosa11a.html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56248"/>
            <a:ext cx="896112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>
              <a:defRPr sz="800" b="1">
                <a:solidFill>
                  <a:srgbClr val="5F6C7C"/>
                </a:solidFill>
                <a:latin typeface="Aptos"/>
              </a:defRPr>
            </a:pPr>
            <a:r>
              <a:t>STUDENT PERFORMANCE &amp; DROPOUT 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5486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>
              <a:defRPr sz="900" b="1">
                <a:solidFill>
                  <a:srgbClr val="5F6C7C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8761</Words>
  <Application>WPS Presentation</Application>
  <PresentationFormat>On-screen Show (4:3)</PresentationFormat>
  <Paragraphs>212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Pranav suhas Ravuri</cp:lastModifiedBy>
  <cp:revision>2</cp:revision>
  <dcterms:created xsi:type="dcterms:W3CDTF">2013-01-27T09:14:00Z</dcterms:created>
  <dcterms:modified xsi:type="dcterms:W3CDTF">2026-10-14T05:36:03Z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23178DB2B0AF416FA21C3B1CEF308EB0_12</vt:lpwstr>
  </property>
</Properties>
</file>